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33de8e71954aa8" /><Relationship Type="http://schemas.openxmlformats.org/officeDocument/2006/relationships/extended-properties" Target="/docProps/app.xml" Id="R14423844b0c54dfc" /><Relationship Type="http://schemas.openxmlformats.org/officeDocument/2006/relationships/officeDocument" Target="/ppt/presentation.xml" Id="Rf8e0071c55a443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b086d4d99645c4"/>
    <p:sldMasterId xmlns:r="http://schemas.openxmlformats.org/officeDocument/2006/relationships" id="2147483655" r:id="Rdbf7ad5d5eca4c17"/>
    <p:sldMasterId xmlns:r="http://schemas.openxmlformats.org/officeDocument/2006/relationships" id="2147483660" r:id="R73bfe041bb2d496f"/>
  </p:sldMasterIdLst>
  <p:notesMasterIdLst>
    <p:notesMasterId xmlns:r="http://schemas.openxmlformats.org/officeDocument/2006/relationships" r:id="R1f17bd3d7ed6481e"/>
  </p:notesMasterIdLst>
  <p:sldIdLst>
    <p:sldId xmlns:r="http://schemas.openxmlformats.org/officeDocument/2006/relationships" id="256" r:id="Rce5e6b55a7d64f4c"/>
    <p:sldId xmlns:r="http://schemas.openxmlformats.org/officeDocument/2006/relationships" id="257" r:id="Rdb3739d0ae4f4018"/>
    <p:sldId xmlns:r="http://schemas.openxmlformats.org/officeDocument/2006/relationships" id="258" r:id="Raa8f2eb2e8014c7e"/>
    <p:sldId xmlns:r="http://schemas.openxmlformats.org/officeDocument/2006/relationships" id="259" r:id="R5410c9944ca7409f"/>
    <p:sldId xmlns:r="http://schemas.openxmlformats.org/officeDocument/2006/relationships" id="260" r:id="Rf1317233a9414d47"/>
    <p:sldId xmlns:r="http://schemas.openxmlformats.org/officeDocument/2006/relationships" id="261" r:id="Rb825b32194324075"/>
    <p:sldId xmlns:r="http://schemas.openxmlformats.org/officeDocument/2006/relationships" id="262" r:id="R5a5439d6be9d419d"/>
    <p:sldId xmlns:r="http://schemas.openxmlformats.org/officeDocument/2006/relationships" id="263" r:id="R943f0dc971e24f0a"/>
    <p:sldId xmlns:r="http://schemas.openxmlformats.org/officeDocument/2006/relationships" id="264" r:id="Re13cf03d12cb40d1"/>
    <p:sldId xmlns:r="http://schemas.openxmlformats.org/officeDocument/2006/relationships" id="265" r:id="R16bfb3962e1c4e48"/>
    <p:sldId xmlns:r="http://schemas.openxmlformats.org/officeDocument/2006/relationships" id="266" r:id="R9f78fe0cbd7e4a98"/>
    <p:sldId xmlns:r="http://schemas.openxmlformats.org/officeDocument/2006/relationships" id="267" r:id="Rd704ae50cad541d0"/>
    <p:sldId xmlns:r="http://schemas.openxmlformats.org/officeDocument/2006/relationships" id="268" r:id="Rb7e4d7647b2f4628"/>
    <p:sldId xmlns:r="http://schemas.openxmlformats.org/officeDocument/2006/relationships" id="269" r:id="R7cfb1c15142d47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faf0439137413f" /><Relationship Type="http://schemas.openxmlformats.org/officeDocument/2006/relationships/slideMaster" Target="/ppt/slideMasters/slideMaster1.xml" Id="Rcfb086d4d99645c4" /><Relationship Type="http://schemas.openxmlformats.org/officeDocument/2006/relationships/slideMaster" Target="/ppt/slideMasters/slideMaster2.xml" Id="Rdbf7ad5d5eca4c17" /><Relationship Type="http://schemas.openxmlformats.org/officeDocument/2006/relationships/slideMaster" Target="/ppt/slideMasters/slideMaster3.xml" Id="R73bfe041bb2d496f" /><Relationship Type="http://schemas.openxmlformats.org/officeDocument/2006/relationships/notesMaster" Target="/ppt/notesMasters/notesMaster1.xml" Id="R1f17bd3d7ed6481e" /><Relationship Type="http://schemas.openxmlformats.org/officeDocument/2006/relationships/presProps" Target="/ppt/presProps.xml" Id="R2761fa6e71a243a5" /><Relationship Type="http://schemas.openxmlformats.org/officeDocument/2006/relationships/tableStyles" Target="/ppt/tableStyles.xml" Id="R1aad9aa0adb34750" /><Relationship Type="http://schemas.openxmlformats.org/officeDocument/2006/relationships/slide" Target="/ppt/slides/slide1.xml" Id="Rce5e6b55a7d64f4c" /><Relationship Type="http://schemas.openxmlformats.org/officeDocument/2006/relationships/slide" Target="/ppt/slides/slide2.xml" Id="Rdb3739d0ae4f4018" /><Relationship Type="http://schemas.openxmlformats.org/officeDocument/2006/relationships/slide" Target="/ppt/slides/slide3.xml" Id="Raa8f2eb2e8014c7e" /><Relationship Type="http://schemas.openxmlformats.org/officeDocument/2006/relationships/slide" Target="/ppt/slides/slide4.xml" Id="R5410c9944ca7409f" /><Relationship Type="http://schemas.openxmlformats.org/officeDocument/2006/relationships/slide" Target="/ppt/slides/slide5.xml" Id="Rf1317233a9414d47" /><Relationship Type="http://schemas.openxmlformats.org/officeDocument/2006/relationships/slide" Target="/ppt/slides/slide6.xml" Id="Rb825b32194324075" /><Relationship Type="http://schemas.openxmlformats.org/officeDocument/2006/relationships/slide" Target="/ppt/slides/slide7.xml" Id="R5a5439d6be9d419d" /><Relationship Type="http://schemas.openxmlformats.org/officeDocument/2006/relationships/slide" Target="/ppt/slides/slide8.xml" Id="R943f0dc971e24f0a" /><Relationship Type="http://schemas.openxmlformats.org/officeDocument/2006/relationships/slide" Target="/ppt/slides/slide9.xml" Id="Re13cf03d12cb40d1" /><Relationship Type="http://schemas.openxmlformats.org/officeDocument/2006/relationships/slide" Target="/ppt/slides/slide10.xml" Id="R16bfb3962e1c4e48" /><Relationship Type="http://schemas.openxmlformats.org/officeDocument/2006/relationships/slide" Target="/ppt/slides/slide11.xml" Id="R9f78fe0cbd7e4a98" /><Relationship Type="http://schemas.openxmlformats.org/officeDocument/2006/relationships/slide" Target="/ppt/slides/slide12.xml" Id="Rd704ae50cad541d0" /><Relationship Type="http://schemas.openxmlformats.org/officeDocument/2006/relationships/slide" Target="/ppt/slides/slide13.xml" Id="Rb7e4d7647b2f4628" /><Relationship Type="http://schemas.openxmlformats.org/officeDocument/2006/relationships/slide" Target="/ppt/slides/slide14.xml" Id="R7cfb1c15142d47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a91aa4a86d3342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ChatGPT">
  <a:themeElements>
    <a:clrScheme name="Cobalt Advisory">
      <a:dk1>
        <a:srgbClr val="13253F"/>
      </a:dk1>
      <a:lt1>
        <a:srgbClr val="FFFFFF"/>
      </a:lt1>
      <a:dk2>
        <a:srgbClr val="657286"/>
      </a:dk2>
      <a:lt2>
        <a:srgbClr val="F1F4FA"/>
      </a:lt2>
      <a:accent1>
        <a:srgbClr val="3057E1"/>
      </a:accent1>
      <a:accent2>
        <a:srgbClr val="A4B5F5"/>
      </a:accent2>
      <a:accent3>
        <a:srgbClr val="DF8A45"/>
      </a:accent3>
      <a:accent4>
        <a:srgbClr val="657286"/>
      </a:accent4>
      <a:accent5>
        <a:srgbClr val="D7DFE9"/>
      </a:accent5>
      <a:accent6>
        <a:srgbClr val="13253F"/>
      </a:accent6>
      <a:hlink>
        <a:srgbClr val="3057E1"/>
      </a:hlink>
      <a:folHlink>
        <a:srgbClr val="13253F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obalt Advisor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35f41a79a84db6" /><Relationship Type="http://schemas.openxmlformats.org/officeDocument/2006/relationships/notesMaster" Target="/ppt/notesMasters/notesMaster1.xml" Id="Re2df5a3354e440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88a86cfdf64d56" /><Relationship Type="http://schemas.openxmlformats.org/officeDocument/2006/relationships/notesMaster" Target="/ppt/notesMasters/notesMaster1.xml" Id="R1f726d5192464a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b1b6183a2645cb" /><Relationship Type="http://schemas.openxmlformats.org/officeDocument/2006/relationships/notesMaster" Target="/ppt/notesMasters/notesMaster1.xml" Id="Rdbbca7d31b3943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39a4439922415c" /><Relationship Type="http://schemas.openxmlformats.org/officeDocument/2006/relationships/notesMaster" Target="/ppt/notesMasters/notesMaster1.xml" Id="R7cc555815f7f40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e652b65f3249fd" /><Relationship Type="http://schemas.openxmlformats.org/officeDocument/2006/relationships/notesMaster" Target="/ppt/notesMasters/notesMaster1.xml" Id="Reda4d9ed48a74f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034295a0c240df" /><Relationship Type="http://schemas.openxmlformats.org/officeDocument/2006/relationships/notesMaster" Target="/ppt/notesMasters/notesMaster1.xml" Id="Ra301801e63da40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83e459fea740aa" /><Relationship Type="http://schemas.openxmlformats.org/officeDocument/2006/relationships/notesMaster" Target="/ppt/notesMasters/notesMaster1.xml" Id="R1909cb5fb11d43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d1ef7acca74dd2" /><Relationship Type="http://schemas.openxmlformats.org/officeDocument/2006/relationships/notesMaster" Target="/ppt/notesMasters/notesMaster1.xml" Id="R8f2b444216f341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317834329947e9" /><Relationship Type="http://schemas.openxmlformats.org/officeDocument/2006/relationships/notesMaster" Target="/ppt/notesMasters/notesMaster1.xml" Id="R542a5939fe5446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7711e6ea2e4df6" /><Relationship Type="http://schemas.openxmlformats.org/officeDocument/2006/relationships/notesMaster" Target="/ppt/notesMasters/notesMaster1.xml" Id="R5cff288aec6242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337e4b29744779" /><Relationship Type="http://schemas.openxmlformats.org/officeDocument/2006/relationships/notesMaster" Target="/ppt/notesMasters/notesMaster1.xml" Id="R402d17b073b349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921b1a3c204c4e" /><Relationship Type="http://schemas.openxmlformats.org/officeDocument/2006/relationships/notesMaster" Target="/ppt/notesMasters/notesMaster1.xml" Id="Rda32948a84e445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fa03bb4c624487" /><Relationship Type="http://schemas.openxmlformats.org/officeDocument/2006/relationships/notesMaster" Target="/ppt/notesMasters/notesMaster1.xml" Id="R451e54043a6345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ad5d94618ce489e" /><Relationship Type="http://schemas.openxmlformats.org/officeDocument/2006/relationships/notesMaster" Target="/ppt/notesMasters/notesMaster1.xml" Id="R4a95c891d5f446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instruction: Add a short engagement title, the client name, and the decision this proposal will support. Replace the presenter and date. This cover uses the Cover 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instruction: Write the proposed decision first. Link the recommendation to evidence and distinguish expected outcomes from established facts. Replace every bracketed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instruction: Break the business question into distinct lines of enquiry. Treat hypotheses as unproven until evidence supports them. Add the source, period, and data owner in the evidence column.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instruction: List the work included in the engagement and the outputs that the client will review. State exclusions explicitly. Use acceptance criteria that the reviewer can observe.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instruction: Include the status quo where relevant. Apply the same criteria to each option. Replace qualitative fields with evidence, or define a scoring scale and weights. Highlight the selected option only when evidence supports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instruction: State the recommended option directly. Explain why it fits the evidence, and state the conditions that must hold. Avoid presenting uncertain results as guaranteed benefits.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instruction: Adapt the phases to the engagement. Each phase should produce a specific output and end with a clear decision or review. Replace the dates and owners.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instruction: The chart contains illustrative values, not a business forecast. Edit its embedded workbook to replace all periods, costs, and benefits. Use a consistent currency and time basis. State whether values are discounted. Keep uncertain benefits separate from committed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instruction: Connect milestone dates to acceptance decisions. Identify one accountable owner per gate. Replace the placeholder dates before circulation.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instruction: Replace the role headings and activities. R means responsible, A accountable, C consulted, and I informed. Assign one A for each activity. The sample assignments illustrate structure and must be reviewed.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instruction: Describe each risk as a cause and consequence. Choose a likelihood and impact scale and use it consistently. Record a response and an owner for each risk.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instruction: Use this page at the approval meeting. Separate decisions from follow-up actions. Name the owner and due date for each item.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instruction: Use stable links or document identifiers. Distinguish data, external references, and judgement. Record the date and how each item supports the recommendation.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instruction: Use the theme colours and the named layouts. Duplicate the nearest slide when you need to retain a table or chart. Replace bracketed fields, update chart workbooks, and delete unused pages. Edit the theme or master for global changes. No third-party photos, logos, or icons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2a575316f47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fb505a84b4b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14e816d4664c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0cd83f5a345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fa1cc9238545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15fe95976e469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fa5890c243f48e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23eda654a1c41a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ced706588244d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641412f8f34e1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8caa8b49f8d41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A6A185-9A67-497C-B80C-B7533B7FEB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17C570F-7320-4D3F-8E8C-A0D4570737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2279589-7E8E-4E50-A518-0D65A78724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C095DF-A7AC-4F8B-8096-CD4740465F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FED306-87F5-49AD-BD49-F2C0BD2529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FE2534-FBC0-4ABC-B0CD-ED2357504B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23F421-F4AD-4345-BCF7-E2BBC36CBB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B305F8E-BEEC-4D59-BF7F-8924236EF9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726983-0E51-4E02-81E4-E29CAE7C2F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AD9AD3-6872-4881-AE41-8FAF41DE2A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>
  <p:cSld name="Cov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27966804-910D-4700-AEAE-04332342BE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809750"/>
            <a:ext cx="108204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[Presentation title]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C42F2FD4-10DD-4D74-BEC6-49B97F23238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3900" y="404812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[Subtitle or project context]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583A9796-068A-4A93-9C64-4BE96720D0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3900" y="56197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rPr>
              <a:t>[Prepared by]   [Month Year]</a:t>
            </a:r>
          </a:p>
        </p:txBody>
      </p:sp>
      <p:sp>
        <p:nvSpPr>
          <p:cNvPr id="4" name="Category">
            <a:extLst xmlns:a="http://schemas.openxmlformats.org/drawingml/2006/main">
              <a:ext uri="{FF2B5EF4-FFF2-40B4-BE49-F238E27FC236}">
                <a16:creationId xmlns:a16="http://schemas.microsoft.com/office/drawing/2014/main" id="{4F46C85C-15F3-4311-B9E0-0FF481AF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 i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 i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 i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 i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 i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 i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 i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 i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 i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A4B5F5"/>
                </a:solidFill>
                <a:latin typeface="DejaVu Sans"/>
                <a:ea typeface="DejaVu Sans"/>
                <a:cs typeface="DejaVu Sans"/>
              </a:rPr>
              <a:t>CONSULTING PROPOSAL</a:t>
            </a:r>
          </a:p>
        </p:txBody>
      </p:sp>
      <p:sp>
        <p:nvSpPr>
          <p:cNvPr id="5" name="Cover rule">
            <a:extLst xmlns:a="http://schemas.openxmlformats.org/drawingml/2006/main">
              <a:ext uri="{FF2B5EF4-FFF2-40B4-BE49-F238E27FC236}">
                <a16:creationId xmlns:a16="http://schemas.microsoft.com/office/drawing/2014/main" id="{0B43E5ED-0B35-41CE-A147-DA078EB8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4827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57E1"/>
            </a:solidFill>
            <a:prstDash val="solid"/>
          </a:ln>
        </p:spPr>
      </p:sp>
    </p:spTree>
  </p:cSld>
</p:sldLayout>
</file>

<file path=ppt/slideLayouts/slideLayout8.xml><?xml version="1.0" encoding="utf-8"?>
<p:sldLayout xmlns:p="http://schemas.openxmlformats.org/presentationml/2006/main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2C52D109-9111-4958-A896-5F92997BF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[Slide title]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6399E867-CC60-49B5-A32D-1615C9AAF5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86690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Two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D5AC935-2907-4027-B979-34C330194E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[Slide title]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61C959B9-2D20-4C2C-B1AA-2A08BC5BD9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47875"/>
            <a:ext cx="50292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8F009C94-5170-4A34-AD47-EE226AB1C7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2047875"/>
            <a:ext cx="50292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Statem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8DB7456D-87C1-48E8-A39A-645E4A5447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[Slide title]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308EB733-EF1E-44CE-ACE0-0DB09DD3A2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33600"/>
            <a:ext cx="108204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Title and eviden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F0258769-9289-4FBE-905D-266E7000BC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[Slide title]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9BE0FAF1-E3CA-4067-9844-29B050B968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85800" y="1981200"/>
            <a:ext cx="108204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9782900114426d" /><Relationship Type="http://schemas.openxmlformats.org/officeDocument/2006/relationships/slideLayout" Target="/ppt/slideLayouts/slideLayout1.xml" Id="R66524f3f94c54a2f" /><Relationship Type="http://schemas.openxmlformats.org/officeDocument/2006/relationships/slideLayout" Target="/ppt/slideLayouts/slideLayout2.xml" Id="R6f04037f4cc54994" /><Relationship Type="http://schemas.openxmlformats.org/officeDocument/2006/relationships/slideLayout" Target="/ppt/slideLayouts/slideLayout3.xml" Id="Rd2a19010616b4782" /><Relationship Type="http://schemas.openxmlformats.org/officeDocument/2006/relationships/slideLayout" Target="/ppt/slideLayouts/slideLayout4.xml" Id="Rf1c67a2744bd41f2" /><Relationship Type="http://schemas.openxmlformats.org/officeDocument/2006/relationships/slideLayout" Target="/ppt/slideLayouts/slideLayout5.xml" Id="Reb902c4f862c4214" /><Relationship Type="http://schemas.openxmlformats.org/officeDocument/2006/relationships/slideLayout" Target="/ppt/slideLayouts/slideLayout6.xml" Id="Rd40091b6b4ea4df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224a559f4c646d4" /><Relationship Type="http://schemas.openxmlformats.org/officeDocument/2006/relationships/slideLayout" Target="/ppt/slideLayouts/slideLayout8.xml" Id="Reaab0799b59e4448" /><Relationship Type="http://schemas.openxmlformats.org/officeDocument/2006/relationships/slideLayout" Target="/ppt/slideLayouts/slideLayout9.xml" Id="R7685d55020d04fb0" /><Relationship Type="http://schemas.openxmlformats.org/officeDocument/2006/relationships/slideLayout" Target="/ppt/slideLayouts/slideLayout10.xml" Id="R6dcfc0633ea64fe1" /><Relationship Type="http://schemas.openxmlformats.org/officeDocument/2006/relationships/slideLayout" Target="/ppt/slideLayouts/slideLayout11.xml" Id="Rdde12ccb1ffe4123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e6be3a7037ca4e93" /><Relationship Type="http://schemas.openxmlformats.org/officeDocument/2006/relationships/slideLayout" Target="/ppt/slideLayouts/slideLayout7.xml" Id="Rc91f110131ab49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524f3f94c54a2f"/>
    <p:sldLayoutId xmlns:r="http://schemas.openxmlformats.org/officeDocument/2006/relationships" id="2147483650" r:id="R6f04037f4cc54994"/>
    <p:sldLayoutId xmlns:r="http://schemas.openxmlformats.org/officeDocument/2006/relationships" id="2147483651" r:id="Rd2a19010616b4782"/>
    <p:sldLayoutId xmlns:r="http://schemas.openxmlformats.org/officeDocument/2006/relationships" id="2147483652" r:id="Rf1c67a2744bd41f2"/>
    <p:sldLayoutId xmlns:r="http://schemas.openxmlformats.org/officeDocument/2006/relationships" id="2147483653" r:id="Reb902c4f862c4214"/>
    <p:sldLayoutId xmlns:r="http://schemas.openxmlformats.org/officeDocument/2006/relationships" id="2147483654" r:id="Rd40091b6b4ea4d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Cobalt Advisory 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eaab0799b59e4448"/>
    <p:sldLayoutId xmlns:r="http://schemas.openxmlformats.org/officeDocument/2006/relationships" id="2147483657" r:id="R7685d55020d04fb0"/>
    <p:sldLayoutId xmlns:r="http://schemas.openxmlformats.org/officeDocument/2006/relationships" id="2147483658" r:id="R6dcfc0633ea64fe1"/>
    <p:sldLayoutId xmlns:r="http://schemas.openxmlformats.org/officeDocument/2006/relationships" id="2147483659" r:id="Rdde12ccb1ffe4123"/>
  </p:sldLayoutIdLst>
</p:sldMaster>
</file>

<file path=ppt/slideMasters/slideMaster3.xml><?xml version="1.0" encoding="utf-8"?>
<p:sldMaster xmlns:p="http://schemas.openxmlformats.org/presentationml/2006/main">
  <p:cSld name="Cobalt Advisory cover master">
    <p:bg>
      <p:bgRef idx="1001">
        <a:schemeClr xmlns:a="http://schemas.openxmlformats.org/drawingml/2006/main" val="dk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c91f110131ab4947"/>
  </p:sldLayoutIdLst>
</p:sldMaster>
</file>

<file path=ppt/slideMasters/theme/theme2.xml><?xml version="1.0" encoding="utf-8"?>
<a:theme xmlns:a="http://schemas.openxmlformats.org/drawingml/2006/main" name="ChatGPT">
  <a:themeElements>
    <a:clrScheme name="Cobalt Advisory">
      <a:dk1>
        <a:srgbClr val="13253F"/>
      </a:dk1>
      <a:lt1>
        <a:srgbClr val="FFFFFF"/>
      </a:lt1>
      <a:dk2>
        <a:srgbClr val="657286"/>
      </a:dk2>
      <a:lt2>
        <a:srgbClr val="F1F4FA"/>
      </a:lt2>
      <a:accent1>
        <a:srgbClr val="3057E1"/>
      </a:accent1>
      <a:accent2>
        <a:srgbClr val="A4B5F5"/>
      </a:accent2>
      <a:accent3>
        <a:srgbClr val="DF8A45"/>
      </a:accent3>
      <a:accent4>
        <a:srgbClr val="657286"/>
      </a:accent4>
      <a:accent5>
        <a:srgbClr val="D7DFE9"/>
      </a:accent5>
      <a:accent6>
        <a:srgbClr val="13253F"/>
      </a:accent6>
      <a:hlink>
        <a:srgbClr val="3057E1"/>
      </a:hlink>
      <a:folHlink>
        <a:srgbClr val="13253F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obalt Advisor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obalt Advisory">
      <a:dk1>
        <a:srgbClr val="13253F"/>
      </a:dk1>
      <a:lt1>
        <a:srgbClr val="FFFFFF"/>
      </a:lt1>
      <a:dk2>
        <a:srgbClr val="657286"/>
      </a:dk2>
      <a:lt2>
        <a:srgbClr val="F1F4FA"/>
      </a:lt2>
      <a:accent1>
        <a:srgbClr val="3057E1"/>
      </a:accent1>
      <a:accent2>
        <a:srgbClr val="A4B5F5"/>
      </a:accent2>
      <a:accent3>
        <a:srgbClr val="DF8A45"/>
      </a:accent3>
      <a:accent4>
        <a:srgbClr val="657286"/>
      </a:accent4>
      <a:accent5>
        <a:srgbClr val="D7DFE9"/>
      </a:accent5>
      <a:accent6>
        <a:srgbClr val="13253F"/>
      </a:accent6>
      <a:hlink>
        <a:srgbClr val="3057E1"/>
      </a:hlink>
      <a:folHlink>
        <a:srgbClr val="13253F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obalt Advisor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Cobalt Advisory">
      <a:dk1>
        <a:srgbClr val="13253F"/>
      </a:dk1>
      <a:lt1>
        <a:srgbClr val="FFFFFF"/>
      </a:lt1>
      <a:dk2>
        <a:srgbClr val="657286"/>
      </a:dk2>
      <a:lt2>
        <a:srgbClr val="F1F4FA"/>
      </a:lt2>
      <a:accent1>
        <a:srgbClr val="3057E1"/>
      </a:accent1>
      <a:accent2>
        <a:srgbClr val="A4B5F5"/>
      </a:accent2>
      <a:accent3>
        <a:srgbClr val="DF8A45"/>
      </a:accent3>
      <a:accent4>
        <a:srgbClr val="657286"/>
      </a:accent4>
      <a:accent5>
        <a:srgbClr val="D7DFE9"/>
      </a:accent5>
      <a:accent6>
        <a:srgbClr val="13253F"/>
      </a:accent6>
      <a:hlink>
        <a:srgbClr val="3057E1"/>
      </a:hlink>
      <a:folHlink>
        <a:srgbClr val="13253F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obalt Advisor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59661671f54bcc" /><Relationship Type="http://schemas.openxmlformats.org/officeDocument/2006/relationships/notesSlide" Target="/ppt/notesSlides/notesSlide1.xml" Id="R84784c642ed54c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0387867bc454111" /><Relationship Type="http://schemas.openxmlformats.org/officeDocument/2006/relationships/notesSlide" Target="/ppt/notesSlides/notesSlide2.xml" Id="R1a50008458c441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c0fabc41e4c4c4c" /><Relationship Type="http://schemas.openxmlformats.org/officeDocument/2006/relationships/notesSlide" Target="/ppt/notesSlides/notesSlide3.xml" Id="Rd9ad9cd3604e4e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f87834542f64623" /><Relationship Type="http://schemas.openxmlformats.org/officeDocument/2006/relationships/notesSlide" Target="/ppt/notesSlides/notesSlide4.xml" Id="Ra13fb210e20d4f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228d24291c045fb" /><Relationship Type="http://schemas.openxmlformats.org/officeDocument/2006/relationships/notesSlide" Target="/ppt/notesSlides/notesSlide5.xml" Id="R217b6a4ecb5e4c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7ced7eb337af4517" /><Relationship Type="http://schemas.openxmlformats.org/officeDocument/2006/relationships/notesSlide" Target="/ppt/notesSlides/notesSlide6.xml" Id="R3fd614225ad646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04eea88d94f4c82" /><Relationship Type="http://schemas.openxmlformats.org/officeDocument/2006/relationships/notesSlide" Target="/ppt/notesSlides/notesSlide7.xml" Id="R2143a2c8dcd644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b2862ee13d04e66" /><Relationship Type="http://schemas.openxmlformats.org/officeDocument/2006/relationships/chart" Target="/ppt/slides/charts/chart1.xml" Id="Rfa7144b7d44a4bbf" /><Relationship Type="http://schemas.openxmlformats.org/officeDocument/2006/relationships/notesSlide" Target="/ppt/notesSlides/notesSlide8.xml" Id="R439e1e7b1aaf4e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33d4d6f291341d2" /><Relationship Type="http://schemas.openxmlformats.org/officeDocument/2006/relationships/notesSlide" Target="/ppt/notesSlides/notesSlide9.xml" Id="Rc294140ee71d48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c423e720d864246" /><Relationship Type="http://schemas.openxmlformats.org/officeDocument/2006/relationships/notesSlide" Target="/ppt/notesSlides/notesSlide10.xml" Id="R660862f2ca1347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37e9f365f44460b" /><Relationship Type="http://schemas.openxmlformats.org/officeDocument/2006/relationships/notesSlide" Target="/ppt/notesSlides/notesSlide11.xml" Id="Red84a1dae0c043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210dda6477d4dcf" /><Relationship Type="http://schemas.openxmlformats.org/officeDocument/2006/relationships/notesSlide" Target="/ppt/notesSlides/notesSlide12.xml" Id="R9430099f7eaf43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053c8f6c8664ffa" /><Relationship Type="http://schemas.openxmlformats.org/officeDocument/2006/relationships/notesSlide" Target="/ppt/notesSlides/notesSlide13.xml" Id="R377446d5548a43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615234ba32fc48f6" /><Relationship Type="http://schemas.openxmlformats.org/officeDocument/2006/relationships/notesSlide" Target="/ppt/notesSlides/notesSlide14.xml" Id="R6f9fc9f6cddb4ec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Illustrative cost and benefit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13253F"/>
              </a:solidFill>
              <a:latin typeface="DejaVu Sans"/>
              <a:ea typeface="DejaVu Sans"/>
              <a:cs typeface="DejaVu San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Illustrative cost</c:v>
          </c:tx>
          <c:spPr>
            <a:solidFill xmlns:a="http://schemas.openxmlformats.org/drawingml/2006/main">
              <a:srgbClr val="A4B5F5"/>
            </a:solidFill>
            <a:ln xmlns:a="http://schemas.openxmlformats.org/drawingml/2006/main" w="0">
              <a:noFill/>
              <a:prstDash val="solid"/>
            </a:ln>
          </c:spPr>
          <c:invertIfNegative val="0"/>
          <c:cat>
            <c:strRef>
              <c:f>'Chart Data'!$A$2:$A$4</c:f>
              <c:strCache>
                <c:ptCount val="3"/>
                <c:pt idx="0">
                  <c:v>[Year 1]</c:v>
                </c:pt>
                <c:pt idx="1">
                  <c:v>[Year 2]</c:v>
                </c:pt>
                <c:pt idx="2">
                  <c:v>[Year 3]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80</c:v>
                </c:pt>
                <c:pt idx="1">
                  <c:v>50</c:v>
                </c:pt>
                <c:pt idx="2">
                  <c:v>40</c:v>
                </c:pt>
              </c:numCache>
            </c:numRef>
          </c:val>
        </c:ser>
        <c:ser>
          <c:idx val="1"/>
          <c:order val="1"/>
          <c:tx>
            <c:v>Illustrative benefit</c:v>
          </c:tx>
          <c:spPr>
            <a:solidFill xmlns:a="http://schemas.openxmlformats.org/drawingml/2006/main">
              <a:srgbClr val="3057E1"/>
            </a:solidFill>
            <a:ln xmlns:a="http://schemas.openxmlformats.org/drawingml/2006/main" w="0">
              <a:noFill/>
              <a:prstDash val="solid"/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[Year 1]</c:v>
                </c:pt>
                <c:pt idx="1">
                  <c:v>[Year 2]</c:v>
                </c:pt>
                <c:pt idx="2">
                  <c:v>[Year 3]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30</c:v>
                </c:pt>
                <c:pt idx="1">
                  <c:v>95</c:v>
                </c:pt>
                <c:pt idx="2">
                  <c:v>145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3253F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F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657286"/>
                    </a:solidFill>
                    <a:latin typeface="DejaVu Sans"/>
                    <a:ea typeface="DejaVu Sans"/>
                    <a:cs typeface="DejaVu Sans"/>
                  </a:rPr>
                  <a:t>Amount [currency, thousands]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657286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657286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5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27966804-910D-4700-AEAE-04332342BE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[Engagement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title]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C42F2FD4-10DD-4D74-BEC6-49B97F23238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[Client name]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[Decision or business question]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583A9796-068A-4A93-9C64-4BE96720D0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4B5F5"/>
                </a:solidFill>
                <a:latin typeface="DejaVu Sans"/>
                <a:ea typeface="DejaVu Sans"/>
                <a:cs typeface="DejaVu Sans"/>
              </a:rPr>
              <a:t>[Consultancy or team]   [Month Year]</a:t>
            </a:r>
          </a:p>
        </p:txBody>
      </p:sp>
    </p:spTree>
    <p:extLst>
      <p:ext uri="{BB962C8B-B14F-4D97-AF65-F5344CB8AC3E}">
        <p14:creationId xmlns:p14="http://schemas.microsoft.com/office/powerpoint/2010/main" val="19444363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D5AC935-2907-4027-B979-34C330194E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Executive summary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EC39AD75-F2BA-4295-996D-672DD18E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[One sentence that states the recommendation and expected result]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EEC2FDEB-A657-4744-BD2F-9DBBDCDD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DFE9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BBFD9EC-CC2D-44A9-AB30-4C0D4339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971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[Client name]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BB1D7AD-E7C8-4582-ABA6-CC54F9DF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59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Decision label">
            <a:extLst xmlns:a="http://schemas.openxmlformats.org/drawingml/2006/main">
              <a:ext uri="{FF2B5EF4-FFF2-40B4-BE49-F238E27FC236}">
                <a16:creationId xmlns:a16="http://schemas.microsoft.com/office/drawing/2014/main" id="{C7E592F9-A4DD-4B88-B021-5304DC4B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rPr>
              <a:t>PROPOSED DECISION</a:t>
            </a:r>
          </a:p>
        </p:txBody>
      </p:sp>
      <p:sp>
        <p:nvSpPr>
          <p:cNvPr id="7" name="Decision">
            <a:extLst xmlns:a="http://schemas.openxmlformats.org/drawingml/2006/main">
              <a:ext uri="{FF2B5EF4-FFF2-40B4-BE49-F238E27FC236}">
                <a16:creationId xmlns:a16="http://schemas.microsoft.com/office/drawing/2014/main" id="{EE900F00-4D18-4383-809C-F1287E01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5286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8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8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8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8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8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8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8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8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8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[The specific decision</a:t>
            </a:r>
          </a:p>
          <a:p xmlns:a="http://schemas.openxmlformats.org/drawingml/2006/main">
            <a:pPr algn="l">
              <a:defRPr sz="28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required from the client]</a:t>
            </a:r>
          </a:p>
        </p:txBody>
      </p:sp>
      <p:sp>
        <p:nvSpPr>
          <p:cNvPr id="8" name="Case label">
            <a:extLst xmlns:a="http://schemas.openxmlformats.org/drawingml/2006/main">
              <a:ext uri="{FF2B5EF4-FFF2-40B4-BE49-F238E27FC236}">
                <a16:creationId xmlns:a16="http://schemas.microsoft.com/office/drawing/2014/main" id="{362AA64D-2454-4769-BA48-BB6680EB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rPr>
              <a:t>BASIS FOR THE DECISION</a:t>
            </a:r>
          </a:p>
        </p:txBody>
      </p:sp>
      <p:sp>
        <p:nvSpPr>
          <p:cNvPr id="9" name="Evidence">
            <a:extLst xmlns:a="http://schemas.openxmlformats.org/drawingml/2006/main">
              <a:ext uri="{FF2B5EF4-FFF2-40B4-BE49-F238E27FC236}">
                <a16:creationId xmlns:a16="http://schemas.microsoft.com/office/drawing/2014/main" id="{6763ABDC-8F4A-4C86-92D3-54C8F6EE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62225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[The strongest evidence or finding]</a:t>
            </a:r>
          </a:p>
        </p:txBody>
      </p:sp>
      <p:sp>
        <p:nvSpPr>
          <p:cNvPr id="10" name="Rationale">
            <a:extLst xmlns:a="http://schemas.openxmlformats.org/drawingml/2006/main">
              <a:ext uri="{FF2B5EF4-FFF2-40B4-BE49-F238E27FC236}">
                <a16:creationId xmlns:a16="http://schemas.microsoft.com/office/drawing/2014/main" id="{096E86F9-1C37-4B0E-998F-27D7E0E0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4572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[Why the recommended approach addresses the business question]</a:t>
            </a:r>
          </a:p>
        </p:txBody>
      </p:sp>
      <p:sp>
        <p:nvSpPr>
          <p:cNvPr id="11" name="Decision separation">
            <a:extLst xmlns:a="http://schemas.openxmlformats.org/drawingml/2006/main">
              <a:ext uri="{FF2B5EF4-FFF2-40B4-BE49-F238E27FC236}">
                <a16:creationId xmlns:a16="http://schemas.microsoft.com/office/drawing/2014/main" id="{30CD4267-E321-4F5C-B47E-28CF4829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2" name="Approval label">
            <a:extLst xmlns:a="http://schemas.openxmlformats.org/drawingml/2006/main">
              <a:ext uri="{FF2B5EF4-FFF2-40B4-BE49-F238E27FC236}">
                <a16:creationId xmlns:a16="http://schemas.microsoft.com/office/drawing/2014/main" id="{8957B19B-1C5F-43C6-AFB6-E397001F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rPr>
              <a:t>APPROVAL</a:t>
            </a:r>
          </a:p>
        </p:txBody>
      </p:sp>
      <p:sp>
        <p:nvSpPr>
          <p:cNvPr id="13" name="Approval">
            <a:extLst xmlns:a="http://schemas.openxmlformats.org/drawingml/2006/main">
              <a:ext uri="{FF2B5EF4-FFF2-40B4-BE49-F238E27FC236}">
                <a16:creationId xmlns:a16="http://schemas.microsoft.com/office/drawing/2014/main" id="{74F296AA-F524-4B02-BBCD-2507E8B9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893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[Approver]     [Decision date]     [Funding or resource request]</a:t>
            </a:r>
          </a:p>
        </p:txBody>
      </p:sp>
    </p:spTree>
    <p:extLst>
      <p:ext uri="{BB962C8B-B14F-4D97-AF65-F5344CB8AC3E}">
        <p14:creationId xmlns:p14="http://schemas.microsoft.com/office/powerpoint/2010/main" val="13451837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0258769-9289-4FBE-905D-266E7000BC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Diagnostic framework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63DA7071-7B74-4D75-BF34-BA13699F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[Business question and the boundaries of the analysis]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6C8D569B-3696-444D-842F-9E51988D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DFE9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B708B50-4F34-49DF-8E4C-5A5C4764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971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[Client name]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6E5627B-8DE3-4D95-A6A6-AC98362F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59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graphicFrame>
        <p:nvGraphicFramePr>
          <p:cNvPr id="6" name="Diagnostic evidence table">
            <a:extLst xmlns:a="http://schemas.openxmlformats.org/drawingml/2006/main">
              <a:ext uri="{FF2B5EF4-FFF2-40B4-BE49-F238E27FC236}">
                <a16:creationId xmlns:a16="http://schemas.microsoft.com/office/drawing/2014/main" id="{85E35531-B99B-4EA6-8FFB-092EAD489055}"/>
              </a:ext>
            </a:extLst>
          </p:cNvPr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/>
              <a:tblGrid>
                <a:gridCol w="3048000"/>
                <a:gridCol w="3409950"/>
                <a:gridCol w="4362450"/>
              </a:tblGrid>
              <a:tr h="685800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Question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Working hypothesis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 required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</a:tr>
              <a:tr h="685800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[Demand or customer issue]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[Hypothesis to test]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[Dataset or interview group]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[Cost or process issue]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[Hypothesis to test]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[Measure, period, owner]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  <a:tr h="685800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[Capability or delivery issue]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[Hypothesis to test]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[Observation or benchmark]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[Constraint or dependency]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[Hypothesis to test]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[Policy, contract, or system]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7" name="Evidence note">
            <a:extLst xmlns:a="http://schemas.openxmlformats.org/drawingml/2006/main">
              <a:ext uri="{FF2B5EF4-FFF2-40B4-BE49-F238E27FC236}">
                <a16:creationId xmlns:a16="http://schemas.microsoft.com/office/drawing/2014/main" id="{A1B9F89E-1227-4C6F-B96C-05D0D1E9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[Source register reference]     [Analysis owner]     [As-of date]</a:t>
            </a:r>
          </a:p>
        </p:txBody>
      </p:sp>
    </p:spTree>
    <p:extLst>
      <p:ext uri="{BB962C8B-B14F-4D97-AF65-F5344CB8AC3E}">
        <p14:creationId xmlns:p14="http://schemas.microsoft.com/office/powerpoint/2010/main" val="1011082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0258769-9289-4FBE-905D-266E7000BC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Scope and deliverables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E6340CE3-DA2D-4C7D-86DD-F91B1F64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[Scope statement in one concise sentence]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6B398926-514D-48E9-81A4-E55C0A2F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DFE9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75D9CF7-CF13-44A7-B177-9E50450E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971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[Client name]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648A1AD-B223-4995-8518-1088EAD5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59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graphicFrame>
        <p:nvGraphicFramePr>
          <p:cNvPr id="6" name="Scope table">
            <a:extLst xmlns:a="http://schemas.openxmlformats.org/drawingml/2006/main">
              <a:ext uri="{FF2B5EF4-FFF2-40B4-BE49-F238E27FC236}">
                <a16:creationId xmlns:a16="http://schemas.microsoft.com/office/drawing/2014/main" id="{AA35C464-3608-43C8-9494-0DCD5F2E5B3E}"/>
              </a:ext>
            </a:extLst>
          </p:cNvPr>
          <p:cNvGraphicFramePr/>
          <p:nvPr/>
        </p:nvGraphicFramePr>
        <p:xfrm>
          <a:off xmlns:a="http://schemas.openxmlformats.org/drawingml/2006/main" x="685800" y="2085975"/>
          <a:ext xmlns:a="http://schemas.openxmlformats.org/drawingml/2006/main" cx="10820400" cy="30099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/>
              <a:tblGrid>
                <a:gridCol w="2667000"/>
                <a:gridCol w="3714750"/>
                <a:gridCol w="4438650"/>
              </a:tblGrid>
              <a:tr h="533400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Workstream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Deliverable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Acceptance criterion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</a:tr>
              <a:tr h="819150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[Workstream 1]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[Output the client receives]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[Observable review criterion]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[Workstream 2]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[Output the client receives]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[Observable review criterion]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  <a:tr h="82867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[Workstream 3]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[Output the client receives]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[Observable review criterion]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Exclusions label">
            <a:extLst xmlns:a="http://schemas.openxmlformats.org/drawingml/2006/main">
              <a:ext uri="{FF2B5EF4-FFF2-40B4-BE49-F238E27FC236}">
                <a16:creationId xmlns:a16="http://schemas.microsoft.com/office/drawing/2014/main" id="{977F4DCA-7425-4C71-B10D-72C9800A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rPr>
              <a:t>OUT OF SCOPE</a:t>
            </a:r>
          </a:p>
        </p:txBody>
      </p:sp>
      <p:sp>
        <p:nvSpPr>
          <p:cNvPr id="8" name="Exclusions">
            <a:extLst xmlns:a="http://schemas.openxmlformats.org/drawingml/2006/main">
              <a:ext uri="{FF2B5EF4-FFF2-40B4-BE49-F238E27FC236}">
                <a16:creationId xmlns:a16="http://schemas.microsoft.com/office/drawing/2014/main" id="{1DA0F01D-D791-4628-ADAF-2806C8E4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381625"/>
            <a:ext cx="8801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[Excluded activities, geographies, systems, or decisions]</a:t>
            </a:r>
          </a:p>
        </p:txBody>
      </p:sp>
    </p:spTree>
    <p:extLst>
      <p:ext uri="{BB962C8B-B14F-4D97-AF65-F5344CB8AC3E}">
        <p14:creationId xmlns:p14="http://schemas.microsoft.com/office/powerpoint/2010/main" val="3851330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0258769-9289-4FBE-905D-266E7000BC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Options assessment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BED78984-5947-4490-89EC-82CCF84E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[Decision criteria, weighting method, and comparison basis]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4324417F-7F76-46DE-B6DC-195A830E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DFE9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34D490B-2F51-4D6E-869E-6F532676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971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[Client name]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2A41D23-75E7-407F-BCDF-58752ADF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59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graphicFrame>
        <p:nvGraphicFramePr>
          <p:cNvPr id="6" name="Options assessment">
            <a:extLst xmlns:a="http://schemas.openxmlformats.org/drawingml/2006/main">
              <a:ext uri="{FF2B5EF4-FFF2-40B4-BE49-F238E27FC236}">
                <a16:creationId xmlns:a16="http://schemas.microsoft.com/office/drawing/2014/main" id="{D86F6559-ACBC-43E9-8E3D-ED121E591F04}"/>
              </a:ext>
            </a:extLst>
          </p:cNvPr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/>
              <a:tblGrid>
                <a:gridCol w="2190750"/>
                <a:gridCol w="3143250"/>
                <a:gridCol w="2381250"/>
                <a:gridCol w="3105150"/>
              </a:tblGrid>
              <a:tr h="69532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Expected benefit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Effort / cost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Main trade-off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</a:tr>
              <a:tr h="69532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[Status quo]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[Benefit]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[Effort or cost]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[Trade-off]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[Option A]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[Benefit]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[Effort or cost]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[Trade-off]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  <a:tr h="69532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[Option B]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[Benefit]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[Effort or cost]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[Trade-off]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</a:tr>
              <a:tr h="69532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[Option C]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[Benefit]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[Effort or cost]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[Trade-off]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7" name="Evidence note">
            <a:extLst xmlns:a="http://schemas.openxmlformats.org/drawingml/2006/main">
              <a:ext uri="{FF2B5EF4-FFF2-40B4-BE49-F238E27FC236}">
                <a16:creationId xmlns:a16="http://schemas.microsoft.com/office/drawing/2014/main" id="{93E11317-DF59-45AB-8DD6-F0AB97BD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[Selection rationale]     [Evidence and cost estimate references]</a:t>
            </a:r>
          </a:p>
        </p:txBody>
      </p:sp>
    </p:spTree>
    <p:extLst>
      <p:ext uri="{BB962C8B-B14F-4D97-AF65-F5344CB8AC3E}">
        <p14:creationId xmlns:p14="http://schemas.microsoft.com/office/powerpoint/2010/main" val="14981923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DB7456D-87C1-48E8-A39A-645E4A5447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Recommendation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6AC28E5E-17B7-4D01-9161-41B2FC2D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[Recommended option and the decision it enables]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52EC1EDF-EBA3-460B-AA6E-5C34FB50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DFE9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1F36C03-FC5E-4DDA-B3F5-FCA61B14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971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[Client name]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BB20D76B-0CD5-476E-9882-DD076B58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59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Recommendation statement">
            <a:extLst xmlns:a="http://schemas.openxmlformats.org/drawingml/2006/main">
              <a:ext uri="{FF2B5EF4-FFF2-40B4-BE49-F238E27FC236}">
                <a16:creationId xmlns:a16="http://schemas.microsoft.com/office/drawing/2014/main" id="{DC10F422-FCD6-4013-A9E8-C263541C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[The recommended course of action</a:t>
            </a:r>
          </a:p>
          <a:p xmlns:a="http://schemas.openxmlformats.org/drawingml/2006/main">
            <a:pPr algn="l">
              <a:defRPr sz="29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and the outcome it is intended to achieve]</a:t>
            </a:r>
          </a:p>
        </p:txBody>
      </p:sp>
      <p:sp>
        <p:nvSpPr>
          <p:cNvPr id="7" name="Recommendation separation">
            <a:extLst xmlns:a="http://schemas.openxmlformats.org/drawingml/2006/main">
              <a:ext uri="{FF2B5EF4-FFF2-40B4-BE49-F238E27FC236}">
                <a16:creationId xmlns:a16="http://schemas.microsoft.com/office/drawing/2014/main" id="{D8AF84A4-2660-4B4D-A67C-2181CDEB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8" name="Rationale label">
            <a:extLst xmlns:a="http://schemas.openxmlformats.org/drawingml/2006/main">
              <a:ext uri="{FF2B5EF4-FFF2-40B4-BE49-F238E27FC236}">
                <a16:creationId xmlns:a16="http://schemas.microsoft.com/office/drawing/2014/main" id="{B6D8B39F-3D11-4A99-9A1A-463A76F3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rPr>
              <a:t>WHY THIS OPTION</a:t>
            </a:r>
          </a:p>
        </p:txBody>
      </p:sp>
      <p:sp>
        <p:nvSpPr>
          <p:cNvPr id="9" name="Rationale">
            <a:extLst xmlns:a="http://schemas.openxmlformats.org/drawingml/2006/main">
              <a:ext uri="{FF2B5EF4-FFF2-40B4-BE49-F238E27FC236}">
                <a16:creationId xmlns:a16="http://schemas.microsoft.com/office/drawing/2014/main" id="{0F3C04C8-7441-4FC9-998F-62243DBE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4933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[Evidence that makes this option the best fit for the stated criteria]</a:t>
            </a:r>
          </a:p>
        </p:txBody>
      </p:sp>
      <p:sp>
        <p:nvSpPr>
          <p:cNvPr id="10" name="Conditions label">
            <a:extLst xmlns:a="http://schemas.openxmlformats.org/drawingml/2006/main">
              <a:ext uri="{FF2B5EF4-FFF2-40B4-BE49-F238E27FC236}">
                <a16:creationId xmlns:a16="http://schemas.microsoft.com/office/drawing/2014/main" id="{FEFB0CD3-566D-439B-88DD-12063AEC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0052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rPr>
              <a:t>CONDITIONS FOR SUCCESS</a:t>
            </a:r>
          </a:p>
        </p:txBody>
      </p:sp>
      <p:sp>
        <p:nvSpPr>
          <p:cNvPr id="11" name="Conditions">
            <a:extLst xmlns:a="http://schemas.openxmlformats.org/drawingml/2006/main">
              <a:ext uri="{FF2B5EF4-FFF2-40B4-BE49-F238E27FC236}">
                <a16:creationId xmlns:a16="http://schemas.microsoft.com/office/drawing/2014/main" id="{0800F555-96FC-4092-B92B-D5F4D7EC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38675"/>
            <a:ext cx="4933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[Critical assumptions, dependencies, and required client commitments]</a:t>
            </a:r>
          </a:p>
        </p:txBody>
      </p:sp>
    </p:spTree>
    <p:extLst>
      <p:ext uri="{BB962C8B-B14F-4D97-AF65-F5344CB8AC3E}">
        <p14:creationId xmlns:p14="http://schemas.microsoft.com/office/powerpoint/2010/main" val="18399990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0258769-9289-4FBE-905D-266E7000BC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Delivery approach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05A4018C-2BCB-4EC8-BBD2-1924C690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[Project duration]   [Delivery model]   [Client participation]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AF4B5508-8CDF-4EEA-B021-6BA79473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DFE9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E787288-70E8-4C24-813D-B1F5B3B7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971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[Client name]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6CC9754-AE35-4F62-A261-DA856D16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59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graphicFrame>
        <p:nvGraphicFramePr>
          <p:cNvPr id="6" name="Delivery approach">
            <a:extLst xmlns:a="http://schemas.openxmlformats.org/drawingml/2006/main">
              <a:ext uri="{FF2B5EF4-FFF2-40B4-BE49-F238E27FC236}">
                <a16:creationId xmlns:a16="http://schemas.microsoft.com/office/drawing/2014/main" id="{5C1C391E-C2EA-4BD9-B4F3-715D88CAFACC}"/>
              </a:ext>
            </a:extLst>
          </p:cNvPr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10820400" cy="345757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/>
              <a:tblGrid>
                <a:gridCol w="2266950"/>
                <a:gridCol w="4057650"/>
                <a:gridCol w="4495800"/>
              </a:tblGrid>
              <a:tr h="69151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Phase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Primary activity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Output and decision gate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</a:tr>
              <a:tr h="69151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01  Diagnose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[Analysis, interviews, or review]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[Baseline and problem definition]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151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02  Design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[Option development and evaluation]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[Preferred approach approval]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  <a:tr h="69151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03  Test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[Pilot scope and evaluation]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[Evidence to proceed or revise]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151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04  Implement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[Rollout and handover activity]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[Acceptance and ownership transfer]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7" name="Evidence note">
            <a:extLst xmlns:a="http://schemas.openxmlformats.org/drawingml/2006/main">
              <a:ext uri="{FF2B5EF4-FFF2-40B4-BE49-F238E27FC236}">
                <a16:creationId xmlns:a16="http://schemas.microsoft.com/office/drawing/2014/main" id="{269CFA80-7F49-4FF9-AB65-1F668FDD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[Phase dates]     [Decision owner]     [Dependencies]</a:t>
            </a:r>
          </a:p>
        </p:txBody>
      </p:sp>
    </p:spTree>
    <p:extLst>
      <p:ext uri="{BB962C8B-B14F-4D97-AF65-F5344CB8AC3E}">
        <p14:creationId xmlns:p14="http://schemas.microsoft.com/office/powerpoint/2010/main" val="10619133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0258769-9289-4FBE-905D-266E7000BC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Cost and benefit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7C36ADDA-028B-4F33-AC18-B8961F09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Illustrative data. Replace values, units, and assumptions before use.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B8BA9CC0-653C-41EE-B4FC-81CFF666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DFE9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2E32DA9-5A24-46D0-A7F6-72378E19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971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[Client name]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3ECCD63-85B6-458C-A92E-AF77DEF5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59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8B49BB2-902B-4978-B81A-FC9747E08137}"/>
              </a:ext>
            </a:extLst>
          </p:cNvPr>
          <p:cNvGraphicFramePr/>
          <p:nvPr/>
        </p:nvGraphicFramePr>
        <p:xfrm>
          <a:off xmlns:a="http://schemas.openxmlformats.org/drawingml/2006/main" x="666750" y="2105025"/>
          <a:ext xmlns:a="http://schemas.openxmlformats.org/drawingml/2006/main" cx="7277100" cy="3581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7144b7d44a4bbf"/>
          </a:graphicData>
        </a:graphic>
      </p:graphicFrame>
      <p:sp>
        <p:nvSpPr>
          <p:cNvPr id="7" name="Assumptions label">
            <a:extLst xmlns:a="http://schemas.openxmlformats.org/drawingml/2006/main">
              <a:ext uri="{FF2B5EF4-FFF2-40B4-BE49-F238E27FC236}">
                <a16:creationId xmlns:a16="http://schemas.microsoft.com/office/drawing/2014/main" id="{22832256-A460-4813-A76E-DEE3DCB9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2764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</p:txBody>
      </p:sp>
      <p:sp>
        <p:nvSpPr>
          <p:cNvPr id="8" name="Assumptions">
            <a:extLst xmlns:a="http://schemas.openxmlformats.org/drawingml/2006/main">
              <a:ext uri="{FF2B5EF4-FFF2-40B4-BE49-F238E27FC236}">
                <a16:creationId xmlns:a16="http://schemas.microsoft.com/office/drawing/2014/main" id="{011FD8B1-7858-4D17-9FCC-C61B14F8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724150"/>
            <a:ext cx="280987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[Cost basis]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[Benefit methodology]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[Discount rate or basis]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[Estimate owner and date]</a:t>
            </a:r>
          </a:p>
        </p:txBody>
      </p:sp>
      <p:sp>
        <p:nvSpPr>
          <p:cNvPr id="9" name="Evidence note">
            <a:extLst xmlns:a="http://schemas.openxmlformats.org/drawingml/2006/main">
              <a:ext uri="{FF2B5EF4-FFF2-40B4-BE49-F238E27FC236}">
                <a16:creationId xmlns:a16="http://schemas.microsoft.com/office/drawing/2014/main" id="{B78CDE81-C373-47BE-8BF3-F2E4F646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674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Illustrative chart values have no external source. [Replace with source and model reference]</a:t>
            </a:r>
          </a:p>
        </p:txBody>
      </p:sp>
    </p:spTree>
    <p:extLst>
      <p:ext uri="{BB962C8B-B14F-4D97-AF65-F5344CB8AC3E}">
        <p14:creationId xmlns:p14="http://schemas.microsoft.com/office/powerpoint/2010/main" val="9414612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0258769-9289-4FBE-905D-266E7000BC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Milestones and review gates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4903643E-3994-412B-BA7D-A40A2CB5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[Overall start date]   [Target completion]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DB140C67-13B5-4FB7-9EAF-DCCBAFA6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DFE9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CAA81FC-F5AD-4799-98E2-90AD343D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971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[Client name]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D880066-510C-466B-B863-8C293C88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59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6" name="Milestone plan">
            <a:extLst xmlns:a="http://schemas.openxmlformats.org/drawingml/2006/main">
              <a:ext uri="{FF2B5EF4-FFF2-40B4-BE49-F238E27FC236}">
                <a16:creationId xmlns:a16="http://schemas.microsoft.com/office/drawing/2014/main" id="{76CC88E5-5761-4A23-A93F-55FFBED97A69}"/>
              </a:ext>
            </a:extLst>
          </p:cNvPr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10820400" cy="343852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/>
              <a:tblGrid>
                <a:gridCol w="2905125"/>
                <a:gridCol w="1828800"/>
                <a:gridCol w="3533775"/>
                <a:gridCol w="2552700"/>
              </a:tblGrid>
              <a:tr h="68770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Milestone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Target date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Review output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 owner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</a:tr>
              <a:tr h="68770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[Baseline agreed]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[Date]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[Diagnostic summary]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[Name or role]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770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[Approach approved]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[Date]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[Option recommendation]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[Name or role]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  <a:tr h="68770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[Pilot reviewed]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[Date]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[Results and lessons]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[Name or role]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770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[Handover complete]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[Date]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[Operating materials]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[Name or role]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7" name="Evidence note">
            <a:extLst xmlns:a="http://schemas.openxmlformats.org/drawingml/2006/main">
              <a:ext uri="{FF2B5EF4-FFF2-40B4-BE49-F238E27FC236}">
                <a16:creationId xmlns:a16="http://schemas.microsoft.com/office/drawing/2014/main" id="{3E9A68B4-5298-4FA5-9E7E-3020CC37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[Key schedule dependency]     [Escalation route for missed milestones]</a:t>
            </a:r>
          </a:p>
        </p:txBody>
      </p:sp>
    </p:spTree>
    <p:extLst>
      <p:ext uri="{BB962C8B-B14F-4D97-AF65-F5344CB8AC3E}">
        <p14:creationId xmlns:p14="http://schemas.microsoft.com/office/powerpoint/2010/main" val="10577516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0258769-9289-4FBE-905D-266E7000BC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Team and responsibilities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7624858A-0D08-4752-8C0B-7417EF6E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[Client team]   [Delivery team]   [Governance cadence]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CF7D8682-0402-4B81-BA42-9F69A1FF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DFE9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89A3155-E0C3-4A65-AB6A-CBE0C59C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971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[Client name]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8EBDEB-B06F-4857-96EF-126FD630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59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6" name="RACI matrix">
            <a:extLst xmlns:a="http://schemas.openxmlformats.org/drawingml/2006/main">
              <a:ext uri="{FF2B5EF4-FFF2-40B4-BE49-F238E27FC236}">
                <a16:creationId xmlns:a16="http://schemas.microsoft.com/office/drawing/2014/main" id="{3E19C884-AA4A-46C5-B1C7-4415F259886F}"/>
              </a:ext>
            </a:extLst>
          </p:cNvPr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10820400" cy="33528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/>
              <a:tblGrid>
                <a:gridCol w="3581400"/>
                <a:gridCol w="1809750"/>
                <a:gridCol w="1809750"/>
                <a:gridCol w="1809750"/>
                <a:gridCol w="1809750"/>
              </a:tblGrid>
              <a:tr h="670560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Activity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Sponsor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Project lead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Specialist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Client owner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</a:tr>
              <a:tr h="670560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[Scope approval]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[Analysis and design]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  <a:tr h="670560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[Pilot acceptance]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[Business handover]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7" name="Evidence note">
            <a:extLst xmlns:a="http://schemas.openxmlformats.org/drawingml/2006/main">
              <a:ext uri="{FF2B5EF4-FFF2-40B4-BE49-F238E27FC236}">
                <a16:creationId xmlns:a16="http://schemas.microsoft.com/office/drawing/2014/main" id="{81C10CF1-6741-46FD-9670-8E0DAA5E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86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Illustrative assignments. R = responsible, A = accountable, C = consulted, I = informed.</a:t>
            </a:r>
          </a:p>
        </p:txBody>
      </p:sp>
    </p:spTree>
    <p:extLst>
      <p:ext uri="{BB962C8B-B14F-4D97-AF65-F5344CB8AC3E}">
        <p14:creationId xmlns:p14="http://schemas.microsoft.com/office/powerpoint/2010/main" val="2588280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0258769-9289-4FBE-905D-266E7000BC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Risk register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3EDF957D-CD65-47E1-BD81-ABAB71B1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[Risk assessment date]   [Review frequency]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793BD7C3-5943-40EB-854E-D15BD385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DFE9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BE0D86E-5754-4880-AFDD-32CCD4C4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971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[Client name]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1D6C672-EE3B-40B8-9F1D-A1D956BA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59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graphicFrame>
        <p:nvGraphicFramePr>
          <p:cNvPr id="6" name="Risk register">
            <a:extLst xmlns:a="http://schemas.openxmlformats.org/drawingml/2006/main">
              <a:ext uri="{FF2B5EF4-FFF2-40B4-BE49-F238E27FC236}">
                <a16:creationId xmlns:a16="http://schemas.microsoft.com/office/drawing/2014/main" id="{3451FB66-4231-4963-AC1E-3ACA50C960ED}"/>
              </a:ext>
            </a:extLst>
          </p:cNvPr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10820400" cy="343852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/>
              <a:tblGrid>
                <a:gridCol w="3886200"/>
                <a:gridCol w="1619250"/>
                <a:gridCol w="1619250"/>
                <a:gridCol w="3695700"/>
              </a:tblGrid>
              <a:tr h="68770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Risk and consequence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Likelihood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Impact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Response and owner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</a:tr>
              <a:tr h="68770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[Risk 1 and its consequence]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[Level]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[Level]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[Response]  [Owner]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770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[Risk 2 and its consequence]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[Level]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[Level]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[Response]  [Owner]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  <a:tr h="68770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[Risk 3 and its consequence]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[Level]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[Level]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[Response]  [Owner]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770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[Risk 4 and its consequence]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[Level]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[Level]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[Response]  [Owner]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7" name="Evidence note">
            <a:extLst xmlns:a="http://schemas.openxmlformats.org/drawingml/2006/main">
              <a:ext uri="{FF2B5EF4-FFF2-40B4-BE49-F238E27FC236}">
                <a16:creationId xmlns:a16="http://schemas.microsoft.com/office/drawing/2014/main" id="{45B526BD-41A3-4FDB-8A59-D1D6D974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[Assessment scale]     [Escalation threshold]     [Full register reference]</a:t>
            </a:r>
          </a:p>
        </p:txBody>
      </p:sp>
    </p:spTree>
    <p:extLst>
      <p:ext uri="{BB962C8B-B14F-4D97-AF65-F5344CB8AC3E}">
        <p14:creationId xmlns:p14="http://schemas.microsoft.com/office/powerpoint/2010/main" val="5227318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0258769-9289-4FBE-905D-266E7000BC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Decisions and next steps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C561EB52-91B8-436A-B0C7-0E3DDD4F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[Decision meeting]   [Date]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97FAC65B-6FA7-4F07-B71A-062EA814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DFE9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72692BB-B7CB-4E58-853D-70628A42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971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[Client name]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9BF2D56-5EB1-474B-80B0-A73257E0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59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graphicFrame>
        <p:nvGraphicFramePr>
          <p:cNvPr id="6" name="Decision and action log">
            <a:extLst xmlns:a="http://schemas.openxmlformats.org/drawingml/2006/main">
              <a:ext uri="{FF2B5EF4-FFF2-40B4-BE49-F238E27FC236}">
                <a16:creationId xmlns:a16="http://schemas.microsoft.com/office/drawing/2014/main" id="{B5F99AB3-A63B-42F8-9944-87D18120CCF2}"/>
              </a:ext>
            </a:extLst>
          </p:cNvPr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/>
              <a:tblGrid>
                <a:gridCol w="3933825"/>
                <a:gridCol w="1657350"/>
                <a:gridCol w="1657350"/>
                <a:gridCol w="3571875"/>
              </a:tblGrid>
              <a:tr h="685800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 or action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Owner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Due date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Completion evidence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</a:tr>
              <a:tr h="685800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[Approve the selected approach]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[Name]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[Date]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[Approval record]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[Confirm scope and resources]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[Name]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[Date]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[Agreed scope / staffing]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  <a:tr h="685800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[Provide the required inputs]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[Name]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[Date]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[Dataset / access / brief]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[Schedule the first review]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[Name]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[Date]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[Meeting and review criteria]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7" name="Evidence note">
            <a:extLst xmlns:a="http://schemas.openxmlformats.org/drawingml/2006/main">
              <a:ext uri="{FF2B5EF4-FFF2-40B4-BE49-F238E27FC236}">
                <a16:creationId xmlns:a16="http://schemas.microsoft.com/office/drawing/2014/main" id="{A6F3ADCA-0EC8-48E6-8326-F02B2719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[Contact name]     [Email]     [Project document location]</a:t>
            </a:r>
          </a:p>
        </p:txBody>
      </p:sp>
    </p:spTree>
    <p:extLst>
      <p:ext uri="{BB962C8B-B14F-4D97-AF65-F5344CB8AC3E}">
        <p14:creationId xmlns:p14="http://schemas.microsoft.com/office/powerpoint/2010/main" val="12313827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0258769-9289-4FBE-905D-266E7000BC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Evidence and assumptions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0B3D9EC1-9838-4BAD-BC71-5B255A47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[Supporting materials and the assumptions that affect the recommendation]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663225E4-E5D6-4435-B3FA-F00C3E69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DFE9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9719EB3-FCFA-4234-A771-F1C11D42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971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[Client name]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D90616B-DC33-4107-A944-76E834AF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59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graphicFrame>
        <p:nvGraphicFramePr>
          <p:cNvPr id="6" name="Evidence register">
            <a:extLst xmlns:a="http://schemas.openxmlformats.org/drawingml/2006/main">
              <a:ext uri="{FF2B5EF4-FFF2-40B4-BE49-F238E27FC236}">
                <a16:creationId xmlns:a16="http://schemas.microsoft.com/office/drawing/2014/main" id="{5E8910F7-0CA7-4731-A849-7CBCF209B42C}"/>
              </a:ext>
            </a:extLst>
          </p:cNvPr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10820400" cy="33528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/>
              <a:tblGrid>
                <a:gridCol w="1466850"/>
                <a:gridCol w="4895850"/>
                <a:gridCol w="4457700"/>
              </a:tblGrid>
              <a:tr h="670560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Reference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Source or assumption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in the proposal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</a:tr>
              <a:tr h="670560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[E1]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[Dataset, author, period, link]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[Claim, chart, or analysis supported]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[E2]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[Interview or document, date]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[Claim, chart, or analysis supported]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  <a:tr h="670560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[A1]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[Assumption and reason]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[Sensitivity or decision affected]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[A2]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[Assumption and reason]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[Validation required and owner]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7" name="Evidence note">
            <a:extLst xmlns:a="http://schemas.openxmlformats.org/drawingml/2006/main">
              <a:ext uri="{FF2B5EF4-FFF2-40B4-BE49-F238E27FC236}">
                <a16:creationId xmlns:a16="http://schemas.microsoft.com/office/drawing/2014/main" id="{71B5311F-D6E4-48C2-AB41-0AE3C13A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[Appendix or source file location]</a:t>
            </a:r>
          </a:p>
        </p:txBody>
      </p:sp>
    </p:spTree>
    <p:extLst>
      <p:ext uri="{BB962C8B-B14F-4D97-AF65-F5344CB8AC3E}">
        <p14:creationId xmlns:p14="http://schemas.microsoft.com/office/powerpoint/2010/main" val="15153323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D5AC935-2907-4027-B979-34C330194E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Style guide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23B53132-C4F7-40A1-ACB6-0409B4FA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Cobalt Advisory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951B1A99-517D-47F8-B6DE-11F2B2DF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DFE9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550E322-3C80-452F-AAEC-05195C2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971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[Client name]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DB0F06A-1B0D-4A72-8796-3FF1C59D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59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6" name="Type label">
            <a:extLst xmlns:a="http://schemas.openxmlformats.org/drawingml/2006/main">
              <a:ext uri="{FF2B5EF4-FFF2-40B4-BE49-F238E27FC236}">
                <a16:creationId xmlns:a16="http://schemas.microsoft.com/office/drawing/2014/main" id="{F1D18639-865E-4BAA-AB30-CE7F854D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3057E1"/>
                </a:solidFill>
                <a:latin typeface="DejaVu Sans"/>
                <a:ea typeface="DejaVu Sans"/>
                <a:cs typeface="DejaVu Sans"/>
              </a:rPr>
              <a:t>TYPOGRAPHY</a:t>
            </a:r>
          </a:p>
        </p:txBody>
      </p:sp>
      <p:sp>
        <p:nvSpPr>
          <p:cNvPr id="7" name="Font name">
            <a:extLst xmlns:a="http://schemas.openxmlformats.org/drawingml/2006/main">
              <a:ext uri="{FF2B5EF4-FFF2-40B4-BE49-F238E27FC236}">
                <a16:creationId xmlns:a16="http://schemas.microsoft.com/office/drawing/2014/main" id="{76632001-EEFB-44E8-B917-755E38BF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519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2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2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2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2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2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2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2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2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2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2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 i="0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DejaVu Sans</a:t>
            </a:r>
          </a:p>
        </p:txBody>
      </p:sp>
      <p:sp>
        <p:nvSpPr>
          <p:cNvPr id="8" name="Type sizes">
            <a:extLst xmlns:a="http://schemas.openxmlformats.org/drawingml/2006/main">
              <a:ext uri="{FF2B5EF4-FFF2-40B4-BE49-F238E27FC236}">
                <a16:creationId xmlns:a16="http://schemas.microsoft.com/office/drawing/2014/main" id="{BB6DE935-2CB2-49AB-96C7-B9D128A8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5191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Title  33 pt</a:t>
            </a:r>
          </a:p>
          <a:p xmlns:a="http://schemas.openxmlformats.org/drawingml/2006/main">
            <a: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Body  18 pt</a:t>
            </a:r>
          </a:p>
          <a:p xmlns:a="http://schemas.openxmlformats.org/drawingml/2006/main">
            <a: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Table  15.75 pt</a:t>
            </a:r>
          </a:p>
          <a:p xmlns:a="http://schemas.openxmlformats.org/drawingml/2006/main">
            <a:pPr algn="l">
              <a:def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Note  12.75 pt</a:t>
            </a:r>
          </a:p>
        </p:txBody>
      </p:sp>
      <p:sp>
        <p:nvSpPr>
          <p:cNvPr id="9" name="Spacing">
            <a:extLst xmlns:a="http://schemas.openxmlformats.org/drawingml/2006/main">
              <a:ext uri="{FF2B5EF4-FFF2-40B4-BE49-F238E27FC236}">
                <a16:creationId xmlns:a16="http://schemas.microsoft.com/office/drawing/2014/main" id="{1E1167D0-1C58-4216-9DE9-C9469D8E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5191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16:9 canvas</a:t>
            </a:r>
          </a:p>
          <a:p xmlns:a="http://schemas.openxmlformats.org/drawingml/2006/main">
            <a: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Consistent 0.75 in content margins</a:t>
            </a:r>
          </a:p>
        </p:txBody>
      </p:sp>
      <p:graphicFrame>
        <p:nvGraphicFramePr>
          <p:cNvPr id="10" name="Palette table">
            <a:extLst xmlns:a="http://schemas.openxmlformats.org/drawingml/2006/main">
              <a:ext uri="{FF2B5EF4-FFF2-40B4-BE49-F238E27FC236}">
                <a16:creationId xmlns:a16="http://schemas.microsoft.com/office/drawing/2014/main" id="{A7A39C3E-C66B-4174-B31C-35DEF08B0783}"/>
              </a:ext>
            </a:extLst>
          </p:cNvPr>
          <p:cNvGraphicFramePr/>
          <p:nvPr/>
        </p:nvGraphicFramePr>
        <p:xfrm>
          <a:off xmlns:a="http://schemas.openxmlformats.org/drawingml/2006/main" x="6534150" y="2095500"/>
          <a:ext xmlns:a="http://schemas.openxmlformats.org/drawingml/2006/main" cx="4972050" cy="29146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/>
              <a:tblGrid>
                <a:gridCol w="2771775"/>
                <a:gridCol w="2200275"/>
              </a:tblGrid>
              <a:tr h="48577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Role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Colour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T w="7620">
                      <a:solidFill>
                        <a:srgbClr val="D7DFE9"/>
                      </a:solidFill>
                      <a:prstDash val="solid"/>
                    </a:lnT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</a:tr>
              <a:tr h="48577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Ink / headings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#13253F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Primary accent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#3057E1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  <a:tr h="48577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Secondary series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#A4B5F5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Secondary text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#657286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  <a:tr h="485775"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Light surface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7DFE9"/>
                      </a:solidFill>
                      <a:prstDash val="solid"/>
                    </a:lnL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9525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5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#F1F4FA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7DFE9"/>
                      </a:solidFill>
                      <a:prstDash val="solid"/>
                    </a:lnR>
                    <a:lnB w="7620">
                      <a:solidFill>
                        <a:srgbClr val="D7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Layouts">
            <a:extLst xmlns:a="http://schemas.openxmlformats.org/drawingml/2006/main">
              <a:ext uri="{FF2B5EF4-FFF2-40B4-BE49-F238E27FC236}">
                <a16:creationId xmlns:a16="http://schemas.microsoft.com/office/drawing/2014/main" id="{A847DE6F-D4C8-421C-91B1-E1A1482F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67325"/>
            <a:ext cx="4905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13253F"/>
                </a:solidFill>
                <a:latin typeface="DejaVu Sans"/>
                <a:ea typeface="DejaVu Sans"/>
                <a:cs typeface="DejaVu Sans"/>
              </a:rPr>
              <a:t>Layouts: Cover, Title and content, Two columns, Statement, Title and evidence</a:t>
            </a:r>
          </a:p>
        </p:txBody>
      </p:sp>
    </p:spTree>
    <p:extLst>
      <p:ext uri="{BB962C8B-B14F-4D97-AF65-F5344CB8AC3E}">
        <p14:creationId xmlns:p14="http://schemas.microsoft.com/office/powerpoint/2010/main" val="1423632527"/>
      </p:ext>
    </p:extLst>
  </p:cSld>
</p:sld>
</file>

<file path=ppt/theme/theme1.xml><?xml version="1.0" encoding="utf-8"?>
<a:theme xmlns:a="http://schemas.openxmlformats.org/drawingml/2006/main" name="ChatGPT">
  <a:themeElements>
    <a:clrScheme name="Cobalt Advisory">
      <a:dk1>
        <a:srgbClr val="13253F"/>
      </a:dk1>
      <a:lt1>
        <a:srgbClr val="FFFFFF"/>
      </a:lt1>
      <a:dk2>
        <a:srgbClr val="657286"/>
      </a:dk2>
      <a:lt2>
        <a:srgbClr val="F1F4FA"/>
      </a:lt2>
      <a:accent1>
        <a:srgbClr val="3057E1"/>
      </a:accent1>
      <a:accent2>
        <a:srgbClr val="A4B5F5"/>
      </a:accent2>
      <a:accent3>
        <a:srgbClr val="DF8A45"/>
      </a:accent3>
      <a:accent4>
        <a:srgbClr val="657286"/>
      </a:accent4>
      <a:accent5>
        <a:srgbClr val="D7DFE9"/>
      </a:accent5>
      <a:accent6>
        <a:srgbClr val="13253F"/>
      </a:accent6>
      <a:hlink>
        <a:srgbClr val="3057E1"/>
      </a:hlink>
      <a:folHlink>
        <a:srgbClr val="13253F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obalt Advisor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2026-10-19T17:04:06.2480000Z</dcterms:created>
  <dcterms:modified xsi:type="dcterms:W3CDTF">2026-10-19T17:04:06.2480000Z</dcterms:modified>
</coreProperties>
</file>